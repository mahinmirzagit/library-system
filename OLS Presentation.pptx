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342" r:id="rId5"/>
    <p:sldId id="383" r:id="rId6"/>
    <p:sldId id="384" r:id="rId7"/>
    <p:sldId id="385" r:id="rId8"/>
    <p:sldId id="386" r:id="rId9"/>
    <p:sldId id="382" r:id="rId10"/>
    <p:sldId id="388" r:id="rId11"/>
    <p:sldId id="389" r:id="rId12"/>
    <p:sldId id="393" r:id="rId13"/>
    <p:sldId id="390" r:id="rId14"/>
    <p:sldId id="391" r:id="rId15"/>
    <p:sldId id="359" r:id="rId16"/>
    <p:sldId id="387" r:id="rId17"/>
    <p:sldId id="373" r:id="rId18"/>
    <p:sldId id="3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2CFC"/>
    <a:srgbClr val="067884"/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91C20E-8721-4911-8035-B95A66147715}" v="3" dt="2025-11-13T04:15:51.377"/>
  </p1510:revLst>
</p1510:revInfo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2506" y="9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2BB62-A5C2-F24F-A271-04105D1F5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1E9B56-EB75-F471-89B3-F4194EA9AB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F1FECA-6849-895D-471E-A84C348CD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E514B-60C8-08E5-B0C6-EFD33BC0E0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23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61B21-A0FA-36E9-0BAE-E1C615C97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D4494C-A615-39B7-46A4-18633F6E9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B486F8-286B-532A-921A-4CAF58B17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ED183-5DC4-DA7F-97F7-BBD41140CA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949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3A70A-822F-A67E-4ECD-E28DD6EDF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486BFD-0957-B1DC-5938-19BEAB610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7DD205-F13E-0A83-A1E9-E81ED0F0D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F0850-01C1-D173-2D93-94CF14DDE2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2022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6780A-B7AE-2E71-DB57-5CCB1BE4D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8D4E62-42DE-718F-D037-88EBD35F02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097EA9-DB81-F7DE-6C8A-F2DEED9A6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956DB-A41F-156C-6BC8-954B2A0E8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004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9B604-0C89-941A-D616-37A4AA841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655588-E56F-0AC4-D358-DD5F67C9D6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43C885-A9BB-C37E-3F55-832F1F025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580FE-1962-F4D5-E7AE-5DCE241C1D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8993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191998" y="396157"/>
            <a:ext cx="12191998" cy="2062030"/>
          </a:xfrm>
        </p:spPr>
        <p:txBody>
          <a:bodyPr anchor="b"/>
          <a:lstStyle/>
          <a:p>
            <a:r>
              <a:rPr lang="en-US" dirty="0">
                <a:solidFill>
                  <a:srgbClr val="067884"/>
                </a:solidFill>
              </a:rPr>
              <a:t>Web Dev Project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6200000">
            <a:off x="7384889" y="1914284"/>
            <a:ext cx="12191997" cy="2577772"/>
          </a:xfrm>
        </p:spPr>
        <p:txBody>
          <a:bodyPr/>
          <a:lstStyle/>
          <a:p>
            <a:r>
              <a:rPr lang="en-US" sz="2400" dirty="0">
                <a:solidFill>
                  <a:srgbClr val="002060"/>
                </a:solidFill>
              </a:rPr>
              <a:t>Online library platform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4FE48-C742-AEB3-52B0-4C8CC9E9C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302B64F1-5903-1ED9-C828-5F80B7CDB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8" cy="2577772"/>
          </a:xfrm>
        </p:spPr>
        <p:txBody>
          <a:bodyPr anchor="b"/>
          <a:lstStyle/>
          <a:p>
            <a:r>
              <a:rPr lang="en-US"/>
              <a:t>Web Dev Project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1C5D6FEC-4683-2EDE-7220-841592B392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890547"/>
            <a:ext cx="12191997" cy="2577772"/>
          </a:xfrm>
        </p:spPr>
        <p:txBody>
          <a:bodyPr/>
          <a:lstStyle/>
          <a:p>
            <a:r>
              <a:rPr lang="en-US" dirty="0" err="1"/>
              <a:t>Librohub</a:t>
            </a:r>
            <a:r>
              <a:rPr lang="en-US" dirty="0"/>
              <a:t>:</a:t>
            </a:r>
          </a:p>
          <a:p>
            <a:r>
              <a:rPr lang="en-US" dirty="0"/>
              <a:t>an online library platform</a:t>
            </a:r>
          </a:p>
          <a:p>
            <a:endParaRPr lang="en-US" dirty="0"/>
          </a:p>
          <a:p>
            <a:r>
              <a:rPr lang="en-US" dirty="0"/>
              <a:t>PRESENTATION</a:t>
            </a:r>
          </a:p>
        </p:txBody>
      </p:sp>
      <p:sp>
        <p:nvSpPr>
          <p:cNvPr id="2" name="Subtitle 3">
            <a:extLst>
              <a:ext uri="{FF2B5EF4-FFF2-40B4-BE49-F238E27FC236}">
                <a16:creationId xmlns:a16="http://schemas.microsoft.com/office/drawing/2014/main" id="{141F2CD2-6B5C-71A9-A0D0-5290D71274AD}"/>
              </a:ext>
            </a:extLst>
          </p:cNvPr>
          <p:cNvSpPr txBox="1">
            <a:spLocks/>
          </p:cNvSpPr>
          <p:nvPr/>
        </p:nvSpPr>
        <p:spPr>
          <a:xfrm>
            <a:off x="-4930815" y="2964513"/>
            <a:ext cx="4016416" cy="471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 cap="all" spc="600" baseline="0">
                <a:solidFill>
                  <a:schemeClr val="accent3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/>
              <a:t>B. Tech CSE(core)</a:t>
            </a:r>
          </a:p>
        </p:txBody>
      </p:sp>
      <p:sp>
        <p:nvSpPr>
          <p:cNvPr id="3" name="Subtitle 3">
            <a:extLst>
              <a:ext uri="{FF2B5EF4-FFF2-40B4-BE49-F238E27FC236}">
                <a16:creationId xmlns:a16="http://schemas.microsoft.com/office/drawing/2014/main" id="{796AD762-EE4B-13DE-C4A0-7A661F86C428}"/>
              </a:ext>
            </a:extLst>
          </p:cNvPr>
          <p:cNvSpPr txBox="1">
            <a:spLocks/>
          </p:cNvSpPr>
          <p:nvPr/>
        </p:nvSpPr>
        <p:spPr>
          <a:xfrm>
            <a:off x="12894197" y="2974167"/>
            <a:ext cx="2939974" cy="471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 cap="all" spc="600" baseline="0">
                <a:solidFill>
                  <a:schemeClr val="accent3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/>
              <a:t>Semester 3</a:t>
            </a:r>
            <a:r>
              <a:rPr lang="en-US" sz="2000" baseline="30000"/>
              <a:t>rd 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372574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CCC04-D0DD-4B06-5907-8340A37DC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CAB71A86-2CB3-BD81-1989-08999482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8" cy="2577772"/>
          </a:xfrm>
        </p:spPr>
        <p:txBody>
          <a:bodyPr anchor="b"/>
          <a:lstStyle/>
          <a:p>
            <a:r>
              <a:rPr lang="en-US" dirty="0"/>
              <a:t>Developers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561523D4-6E28-F1D4-4050-3F8A121E7C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890547"/>
            <a:ext cx="12191997" cy="590013"/>
          </a:xfrm>
        </p:spPr>
        <p:txBody>
          <a:bodyPr/>
          <a:lstStyle/>
          <a:p>
            <a:r>
              <a:rPr lang="en-US"/>
              <a:t>Aryan (2401010005)</a:t>
            </a:r>
          </a:p>
        </p:txBody>
      </p:sp>
      <p:sp>
        <p:nvSpPr>
          <p:cNvPr id="2" name="Subtitle 3">
            <a:extLst>
              <a:ext uri="{FF2B5EF4-FFF2-40B4-BE49-F238E27FC236}">
                <a16:creationId xmlns:a16="http://schemas.microsoft.com/office/drawing/2014/main" id="{6FC54BA7-261A-E84C-FF4D-B057B28D4DBA}"/>
              </a:ext>
            </a:extLst>
          </p:cNvPr>
          <p:cNvSpPr txBox="1">
            <a:spLocks/>
          </p:cNvSpPr>
          <p:nvPr/>
        </p:nvSpPr>
        <p:spPr>
          <a:xfrm>
            <a:off x="-4" y="4345535"/>
            <a:ext cx="12191997" cy="5900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 cap="all" spc="600" baseline="0">
                <a:solidFill>
                  <a:schemeClr val="accent3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Aman  (2401010141)</a:t>
            </a:r>
          </a:p>
        </p:txBody>
      </p:sp>
      <p:sp>
        <p:nvSpPr>
          <p:cNvPr id="3" name="Subtitle 3">
            <a:extLst>
              <a:ext uri="{FF2B5EF4-FFF2-40B4-BE49-F238E27FC236}">
                <a16:creationId xmlns:a16="http://schemas.microsoft.com/office/drawing/2014/main" id="{7ABFF660-A367-D636-67C6-0E8DBFBD183A}"/>
              </a:ext>
            </a:extLst>
          </p:cNvPr>
          <p:cNvSpPr txBox="1">
            <a:spLocks/>
          </p:cNvSpPr>
          <p:nvPr/>
        </p:nvSpPr>
        <p:spPr>
          <a:xfrm>
            <a:off x="-11" y="4868037"/>
            <a:ext cx="12191997" cy="5900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 cap="all" spc="600" baseline="0">
                <a:solidFill>
                  <a:schemeClr val="accent3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Mahin (2401010123)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743BD20-C448-43B6-48F3-CF210B1304D2}"/>
              </a:ext>
            </a:extLst>
          </p:cNvPr>
          <p:cNvSpPr txBox="1">
            <a:spLocks/>
          </p:cNvSpPr>
          <p:nvPr/>
        </p:nvSpPr>
        <p:spPr>
          <a:xfrm>
            <a:off x="-3" y="5390538"/>
            <a:ext cx="12191997" cy="5900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 cap="all" spc="600" baseline="0">
                <a:solidFill>
                  <a:schemeClr val="accent3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Bhavik (2401010039)</a:t>
            </a:r>
          </a:p>
        </p:txBody>
      </p:sp>
      <p:sp>
        <p:nvSpPr>
          <p:cNvPr id="7" name="Subtitle 3">
            <a:extLst>
              <a:ext uri="{FF2B5EF4-FFF2-40B4-BE49-F238E27FC236}">
                <a16:creationId xmlns:a16="http://schemas.microsoft.com/office/drawing/2014/main" id="{C9FE2855-C951-A6F8-5690-990CC57B5AA3}"/>
              </a:ext>
            </a:extLst>
          </p:cNvPr>
          <p:cNvSpPr txBox="1">
            <a:spLocks/>
          </p:cNvSpPr>
          <p:nvPr/>
        </p:nvSpPr>
        <p:spPr>
          <a:xfrm>
            <a:off x="3" y="2964513"/>
            <a:ext cx="4016416" cy="471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 cap="all" spc="600" baseline="0">
                <a:solidFill>
                  <a:schemeClr val="accent3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/>
              <a:t>B. Tech CSE(core)</a:t>
            </a:r>
          </a:p>
        </p:txBody>
      </p:sp>
      <p:sp>
        <p:nvSpPr>
          <p:cNvPr id="11" name="Subtitle 3">
            <a:extLst>
              <a:ext uri="{FF2B5EF4-FFF2-40B4-BE49-F238E27FC236}">
                <a16:creationId xmlns:a16="http://schemas.microsoft.com/office/drawing/2014/main" id="{5B1A8F1C-0DD7-470F-5A9B-9EA62E63B500}"/>
              </a:ext>
            </a:extLst>
          </p:cNvPr>
          <p:cNvSpPr txBox="1">
            <a:spLocks/>
          </p:cNvSpPr>
          <p:nvPr/>
        </p:nvSpPr>
        <p:spPr>
          <a:xfrm>
            <a:off x="9236596" y="2974167"/>
            <a:ext cx="2939974" cy="471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 cap="all" spc="600" baseline="0">
                <a:solidFill>
                  <a:schemeClr val="accent3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/>
              <a:t>Semester 3</a:t>
            </a:r>
            <a:r>
              <a:rPr lang="en-US" sz="2000" baseline="30000"/>
              <a:t>rd 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214188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3000">
              <a:schemeClr val="tx2">
                <a:lumMod val="100000"/>
              </a:schemeClr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63C9C0-FA4B-1CE5-111A-7D3F8E349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B082C0A-C560-DEBF-5F43-76E89318D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84594"/>
            <a:ext cx="12191998" cy="2577772"/>
          </a:xfrm>
        </p:spPr>
        <p:txBody>
          <a:bodyPr anchor="b"/>
          <a:lstStyle/>
          <a:p>
            <a:r>
              <a:rPr lang="en-US" sz="4000"/>
              <a:t>Hero Section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F2D453A9-A25B-C8BE-73C7-476A1A0436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8666437" y="3890547"/>
            <a:ext cx="12191997" cy="590013"/>
          </a:xfrm>
        </p:spPr>
        <p:txBody>
          <a:bodyPr/>
          <a:lstStyle/>
          <a:p>
            <a:r>
              <a:rPr lang="en-US"/>
              <a:t>Aryan (2401010005)</a:t>
            </a:r>
          </a:p>
        </p:txBody>
      </p:sp>
      <p:sp>
        <p:nvSpPr>
          <p:cNvPr id="2" name="Subtitle 3">
            <a:extLst>
              <a:ext uri="{FF2B5EF4-FFF2-40B4-BE49-F238E27FC236}">
                <a16:creationId xmlns:a16="http://schemas.microsoft.com/office/drawing/2014/main" id="{0DBFCD86-9C6E-7803-4A87-A13F95F483EC}"/>
              </a:ext>
            </a:extLst>
          </p:cNvPr>
          <p:cNvSpPr txBox="1">
            <a:spLocks/>
          </p:cNvSpPr>
          <p:nvPr/>
        </p:nvSpPr>
        <p:spPr>
          <a:xfrm>
            <a:off x="-23134324" y="4345535"/>
            <a:ext cx="12191997" cy="5900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 cap="all" spc="600" baseline="0">
                <a:solidFill>
                  <a:schemeClr val="accent3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Aman  (2401010141)</a:t>
            </a:r>
          </a:p>
        </p:txBody>
      </p:sp>
      <p:sp>
        <p:nvSpPr>
          <p:cNvPr id="3" name="Subtitle 3">
            <a:extLst>
              <a:ext uri="{FF2B5EF4-FFF2-40B4-BE49-F238E27FC236}">
                <a16:creationId xmlns:a16="http://schemas.microsoft.com/office/drawing/2014/main" id="{A2DAF697-7563-1CB4-A728-C9DC51455B69}"/>
              </a:ext>
            </a:extLst>
          </p:cNvPr>
          <p:cNvSpPr txBox="1">
            <a:spLocks/>
          </p:cNvSpPr>
          <p:nvPr/>
        </p:nvSpPr>
        <p:spPr>
          <a:xfrm>
            <a:off x="-17343131" y="4868037"/>
            <a:ext cx="12191997" cy="5900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 cap="all" spc="600" baseline="0">
                <a:solidFill>
                  <a:schemeClr val="accent3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Mahin (2401010123)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BEFA57E-5434-F7EA-10E7-56941EA503EF}"/>
              </a:ext>
            </a:extLst>
          </p:cNvPr>
          <p:cNvSpPr txBox="1">
            <a:spLocks/>
          </p:cNvSpPr>
          <p:nvPr/>
        </p:nvSpPr>
        <p:spPr>
          <a:xfrm>
            <a:off x="-11551923" y="5390538"/>
            <a:ext cx="12191997" cy="5900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 cap="all" spc="600" baseline="0">
                <a:solidFill>
                  <a:schemeClr val="accent3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Bhavik(2401010039)</a:t>
            </a:r>
          </a:p>
        </p:txBody>
      </p:sp>
      <p:sp>
        <p:nvSpPr>
          <p:cNvPr id="11" name="Subtitle 3">
            <a:extLst>
              <a:ext uri="{FF2B5EF4-FFF2-40B4-BE49-F238E27FC236}">
                <a16:creationId xmlns:a16="http://schemas.microsoft.com/office/drawing/2014/main" id="{6C8BC6EA-6342-A23A-ABAD-19F66CCB0AD5}"/>
              </a:ext>
            </a:extLst>
          </p:cNvPr>
          <p:cNvSpPr txBox="1">
            <a:spLocks/>
          </p:cNvSpPr>
          <p:nvPr/>
        </p:nvSpPr>
        <p:spPr>
          <a:xfrm>
            <a:off x="-4930815" y="2964513"/>
            <a:ext cx="4016416" cy="471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 cap="all" spc="600" baseline="0">
                <a:solidFill>
                  <a:schemeClr val="accent3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/>
              <a:t>B. Tech CSE(core)</a:t>
            </a:r>
          </a:p>
        </p:txBody>
      </p:sp>
      <p:sp>
        <p:nvSpPr>
          <p:cNvPr id="13" name="Subtitle 3">
            <a:extLst>
              <a:ext uri="{FF2B5EF4-FFF2-40B4-BE49-F238E27FC236}">
                <a16:creationId xmlns:a16="http://schemas.microsoft.com/office/drawing/2014/main" id="{0DFCBA93-6559-06B9-B746-470065A3652E}"/>
              </a:ext>
            </a:extLst>
          </p:cNvPr>
          <p:cNvSpPr txBox="1">
            <a:spLocks/>
          </p:cNvSpPr>
          <p:nvPr/>
        </p:nvSpPr>
        <p:spPr>
          <a:xfrm>
            <a:off x="12894197" y="2974167"/>
            <a:ext cx="2939974" cy="4717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 cap="all" spc="600" baseline="0">
                <a:solidFill>
                  <a:schemeClr val="accent3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/>
              <a:t>Semester 3</a:t>
            </a:r>
            <a:r>
              <a:rPr lang="en-US" sz="2000" baseline="30000"/>
              <a:t>rd </a:t>
            </a:r>
            <a:endParaRPr lang="en-US" sz="20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85DCA-E422-6A92-350E-432B45E991B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>
            <a:off x="278003" y="893178"/>
            <a:ext cx="11635991" cy="5309044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outerShdw blurRad="50800" dist="50800" dir="5400000" algn="ctr" rotWithShape="0">
              <a:srgbClr val="000000">
                <a:alpha val="63000"/>
              </a:srgbClr>
            </a:outerShdw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35116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6CB5D-D763-60AC-DD28-2129BA234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F0EEE55-D24F-C0DB-0E8D-2E2DA6354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62480"/>
            <a:ext cx="12191998" cy="1370698"/>
          </a:xfrm>
        </p:spPr>
        <p:txBody>
          <a:bodyPr anchor="b"/>
          <a:lstStyle/>
          <a:p>
            <a:r>
              <a:rPr lang="en-US" sz="4000"/>
              <a:t>Hero Section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0F20BD-A267-2B21-3F25-815436EB7F27}"/>
              </a:ext>
            </a:extLst>
          </p:cNvPr>
          <p:cNvSpPr/>
          <p:nvPr/>
        </p:nvSpPr>
        <p:spPr>
          <a:xfrm flipH="1" flipV="1">
            <a:off x="-13921804" y="-7831015"/>
            <a:ext cx="13921804" cy="7831015"/>
          </a:xfrm>
          <a:prstGeom prst="rect">
            <a:avLst/>
          </a:prstGeom>
          <a:gradFill>
            <a:gsLst>
              <a:gs pos="93000">
                <a:schemeClr val="tx2"/>
              </a:gs>
              <a:gs pos="81000">
                <a:schemeClr val="accent6">
                  <a:lumMod val="50000"/>
                </a:schemeClr>
              </a:gs>
              <a:gs pos="27000">
                <a:schemeClr val="tx1"/>
              </a:gs>
              <a:gs pos="8000">
                <a:schemeClr val="accent4">
                  <a:lumMod val="75000"/>
                </a:schemeClr>
              </a:gs>
              <a:gs pos="0">
                <a:schemeClr val="accent4"/>
              </a:gs>
              <a:gs pos="99000">
                <a:schemeClr val="tx2">
                  <a:lumMod val="40000"/>
                  <a:lumOff val="60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6">
            <a:extLst>
              <a:ext uri="{FF2B5EF4-FFF2-40B4-BE49-F238E27FC236}">
                <a16:creationId xmlns:a16="http://schemas.microsoft.com/office/drawing/2014/main" id="{530C7857-B352-65F1-CD3F-2B76625A5199}"/>
              </a:ext>
            </a:extLst>
          </p:cNvPr>
          <p:cNvSpPr txBox="1">
            <a:spLocks/>
          </p:cNvSpPr>
          <p:nvPr/>
        </p:nvSpPr>
        <p:spPr>
          <a:xfrm flipH="1" flipV="1">
            <a:off x="-14623080" y="-4600857"/>
            <a:ext cx="15324355" cy="1370697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r>
              <a:rPr lang="en-US"/>
              <a:t>Why we need this?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6368C1-3C23-CB20-2519-011204CF0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298" y="1237663"/>
            <a:ext cx="8473403" cy="40142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882086-4A3E-EC4C-1F1A-4A78726382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058" y="632690"/>
            <a:ext cx="10998357" cy="52242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13596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F9611B4-92B4-A402-D874-FF4736DC27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93000">
                <a:schemeClr val="tx2"/>
              </a:gs>
              <a:gs pos="81000">
                <a:schemeClr val="accent6">
                  <a:lumMod val="50000"/>
                </a:schemeClr>
              </a:gs>
              <a:gs pos="27000">
                <a:schemeClr val="tx1"/>
              </a:gs>
              <a:gs pos="8000">
                <a:schemeClr val="accent4">
                  <a:lumMod val="75000"/>
                </a:schemeClr>
              </a:gs>
              <a:gs pos="0">
                <a:schemeClr val="accent4"/>
              </a:gs>
              <a:gs pos="99000">
                <a:schemeClr val="tx2">
                  <a:lumMod val="40000"/>
                  <a:lumOff val="60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EFE53B2-2313-4367-E071-ADADC09E2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580" y="1726882"/>
            <a:ext cx="9514839" cy="3404235"/>
          </a:xfrm>
        </p:spPr>
        <p:txBody>
          <a:bodyPr/>
          <a:lstStyle/>
          <a:p>
            <a:r>
              <a:rPr lang="en-US"/>
              <a:t>Why we need this?</a:t>
            </a:r>
          </a:p>
        </p:txBody>
      </p:sp>
    </p:spTree>
    <p:extLst>
      <p:ext uri="{BB962C8B-B14F-4D97-AF65-F5344CB8AC3E}">
        <p14:creationId xmlns:p14="http://schemas.microsoft.com/office/powerpoint/2010/main" val="13801761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73B8C-EDDE-C8DA-F7E8-5F1177484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70FC87F-C721-4291-10A8-155341A281E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93000">
                <a:schemeClr val="tx2"/>
              </a:gs>
              <a:gs pos="81000">
                <a:schemeClr val="accent6">
                  <a:lumMod val="50000"/>
                </a:schemeClr>
              </a:gs>
              <a:gs pos="27000">
                <a:schemeClr val="tx1"/>
              </a:gs>
              <a:gs pos="8000">
                <a:schemeClr val="accent4">
                  <a:lumMod val="75000"/>
                </a:schemeClr>
              </a:gs>
              <a:gs pos="0">
                <a:schemeClr val="accent4"/>
              </a:gs>
              <a:gs pos="99000">
                <a:schemeClr val="tx2">
                  <a:lumMod val="40000"/>
                  <a:lumOff val="60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E08BED2C-A516-ED92-FF21-7E3A7624E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7330" y="355283"/>
            <a:ext cx="6657340" cy="731838"/>
          </a:xfrm>
        </p:spPr>
        <p:txBody>
          <a:bodyPr/>
          <a:lstStyle/>
          <a:p>
            <a:pPr algn="l"/>
            <a:r>
              <a:rPr lang="en-US" sz="4400"/>
              <a:t>Why we need this?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224B9-C7E9-3A19-1775-F2D60FA9FA8A}"/>
              </a:ext>
            </a:extLst>
          </p:cNvPr>
          <p:cNvSpPr txBox="1">
            <a:spLocks/>
          </p:cNvSpPr>
          <p:nvPr/>
        </p:nvSpPr>
        <p:spPr>
          <a:xfrm>
            <a:off x="1950720" y="2254726"/>
            <a:ext cx="10627360" cy="3932714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accent3"/>
                </a:solidFill>
                <a:latin typeface="+mj-lt"/>
                <a:ea typeface="+mn-ea"/>
                <a:cs typeface="Biome" panose="020B0503030204020804" pitchFamily="34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>
              <a:solidFill>
                <a:schemeClr val="bg1"/>
              </a:solidFill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+mn-lt"/>
              </a:rPr>
              <a:t>Enables quick search and retrieval of book details.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+mn-lt"/>
              </a:rPr>
              <a:t>Stores all data securely in a digital database.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+mn-lt"/>
              </a:rPr>
              <a:t>Saves time by allowing fast add, update, and delete operations.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+mn-lt"/>
              </a:rPr>
              <a:t>Reduces human errors and data duplication.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+mn-lt"/>
              </a:rPr>
              <a:t>Makes inventory tracking easier and more accurate.</a:t>
            </a:r>
          </a:p>
        </p:txBody>
      </p:sp>
    </p:spTree>
    <p:extLst>
      <p:ext uri="{BB962C8B-B14F-4D97-AF65-F5344CB8AC3E}">
        <p14:creationId xmlns:p14="http://schemas.microsoft.com/office/powerpoint/2010/main" val="875442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CEBA54-D104-1F5B-77E5-6691669326E6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002" y="1150375"/>
            <a:ext cx="4015098" cy="4852834"/>
          </a:xfrm>
        </p:spPr>
        <p:txBody>
          <a:bodyPr/>
          <a:lstStyle/>
          <a:p>
            <a:pPr algn="ctr"/>
            <a:r>
              <a:rPr lang="en-US">
                <a:solidFill>
                  <a:srgbClr val="00B0F0"/>
                </a:solidFill>
              </a:rPr>
              <a:t>Existing System</a:t>
            </a:r>
          </a:p>
          <a:p>
            <a:endParaRPr lang="en-US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Issuing and returning books require manual entries.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Searching for books or records takes a lot of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Updating or deleting records is tedious.</a:t>
            </a:r>
            <a:endParaRPr lang="en-US">
              <a:solidFill>
                <a:srgbClr val="00B0F0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F2D6BA-BAA8-BD1A-9B23-27D3434617D9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995159" y="1150375"/>
            <a:ext cx="4227332" cy="4852833"/>
          </a:xfrm>
        </p:spPr>
        <p:txBody>
          <a:bodyPr/>
          <a:lstStyle/>
          <a:p>
            <a:pPr algn="ctr"/>
            <a:r>
              <a:rPr lang="en-US">
                <a:solidFill>
                  <a:srgbClr val="00B0F0"/>
                </a:solidFill>
              </a:rPr>
              <a:t>Proposed System</a:t>
            </a:r>
          </a:p>
          <a:p>
            <a:endParaRPr lang="en-US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Issue, return, and search operations are automated.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Reduces manual effort.</a:t>
            </a:r>
            <a:endParaRPr lang="en-IN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Minimizes human error.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Reports can be generated quickly.</a:t>
            </a:r>
            <a:endParaRPr lang="en-IN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599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31248-5B5A-612E-9945-163537E70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 and registration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AC314-DC1F-FBA5-EBE6-4CD71E79A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1B6FF80-4A7D-AFB3-13AC-FBC3105C3530}"/>
              </a:ext>
            </a:extLst>
          </p:cNvPr>
          <p:cNvPicPr>
            <a:picLocks noGrp="1" noChangeAspect="1"/>
          </p:cNvPicPr>
          <p:nvPr>
            <p:ph sz="quarter" idx="35"/>
          </p:nvPr>
        </p:nvPicPr>
        <p:blipFill>
          <a:blip r:embed="rId2"/>
          <a:stretch>
            <a:fillRect/>
          </a:stretch>
        </p:blipFill>
        <p:spPr>
          <a:xfrm>
            <a:off x="2442167" y="2474913"/>
            <a:ext cx="3877079" cy="35290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26B8B69-157F-891A-6494-4D7CA3A2A8C9}"/>
              </a:ext>
            </a:extLst>
          </p:cNvPr>
          <p:cNvPicPr>
            <a:picLocks noGrp="1" noChangeAspect="1"/>
          </p:cNvPicPr>
          <p:nvPr>
            <p:ph sz="quarter" idx="36"/>
          </p:nvPr>
        </p:nvPicPr>
        <p:blipFill>
          <a:blip r:embed="rId3"/>
          <a:stretch>
            <a:fillRect/>
          </a:stretch>
        </p:blipFill>
        <p:spPr>
          <a:xfrm>
            <a:off x="6994525" y="2482917"/>
            <a:ext cx="4227513" cy="35130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3822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953A5-6B47-BECD-9B35-8B0FC5B755F4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002" y="157317"/>
            <a:ext cx="4015098" cy="5845892"/>
          </a:xfrm>
        </p:spPr>
        <p:txBody>
          <a:bodyPr/>
          <a:lstStyle/>
          <a:p>
            <a:pPr algn="ctr"/>
            <a:endParaRPr lang="en-US" sz="3600">
              <a:solidFill>
                <a:srgbClr val="00B0F0"/>
              </a:solidFill>
            </a:endParaRPr>
          </a:p>
          <a:p>
            <a:pPr algn="ctr"/>
            <a:r>
              <a:rPr lang="en-US" sz="3600">
                <a:solidFill>
                  <a:srgbClr val="00B0F0"/>
                </a:solidFill>
              </a:rPr>
              <a:t>Admin Module</a:t>
            </a:r>
          </a:p>
          <a:p>
            <a:endParaRPr lang="en-US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/>
              <a:t>Admin Authentication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/>
              <a:t>Manage Books</a:t>
            </a:r>
            <a:endParaRPr lang="en-I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/>
              <a:t>Issue &amp; Return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/>
              <a:t>Generate 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/>
              <a:t>Database Maintenance</a:t>
            </a:r>
            <a:endParaRPr lang="en-I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>
              <a:solidFill>
                <a:srgbClr val="00B0F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BEBB69-1F4B-850F-BADA-8B0A399E722E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995159" y="157317"/>
            <a:ext cx="4227332" cy="5845892"/>
          </a:xfrm>
        </p:spPr>
        <p:txBody>
          <a:bodyPr/>
          <a:lstStyle/>
          <a:p>
            <a:pPr algn="ctr"/>
            <a:endParaRPr lang="en-US" sz="3600">
              <a:solidFill>
                <a:srgbClr val="00B0F0"/>
              </a:solidFill>
            </a:endParaRPr>
          </a:p>
          <a:p>
            <a:pPr algn="ctr"/>
            <a:r>
              <a:rPr lang="en-US" sz="3600">
                <a:solidFill>
                  <a:srgbClr val="00B0F0"/>
                </a:solidFill>
              </a:rPr>
              <a:t>User Module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/>
              <a:t>User Login &amp; Registration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/>
              <a:t>Search and View Books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/>
              <a:t>Book Issue Request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/>
              <a:t>Book Return Request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/>
              <a:t>View Account Details</a:t>
            </a:r>
            <a:endParaRPr lang="en-I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>
              <a:solidFill>
                <a:srgbClr val="00B0F0"/>
              </a:solidFill>
            </a:endParaRPr>
          </a:p>
          <a:p>
            <a:pPr algn="ctr"/>
            <a:endParaRPr lang="en-IN">
              <a:solidFill>
                <a:srgbClr val="00B0F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425ECB-7DCF-9E32-8F3F-A2B480933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565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A52DC6C-7928-2C6A-F230-826AAF380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1344721"/>
          </a:xfrm>
        </p:spPr>
        <p:txBody>
          <a:bodyPr/>
          <a:lstStyle/>
          <a:p>
            <a:r>
              <a:rPr lang="en-US"/>
              <a:t>SYSTEM ARCHITECTURE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71AD9F-50E7-5873-11F6-086BA8E71D2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226175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CBB0DD-F345-704B-83A2-EC822F1E9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13" y="1851401"/>
            <a:ext cx="5514070" cy="394264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A6E3C9-1891-3A4E-6D4C-C0E7B8957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517" y="1851401"/>
            <a:ext cx="5514070" cy="394264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200718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18921" y="3087688"/>
            <a:ext cx="4466504" cy="3405187"/>
          </a:xfrm>
        </p:spPr>
        <p:txBody>
          <a:bodyPr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HTML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CSS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Node 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MySQL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B15D2E-D57A-C55D-D258-B7ECFA35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TECHNOLOGIES USED</a:t>
            </a:r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A75508-6811-4178-359A-B5CAD1F49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806" y="2527358"/>
            <a:ext cx="5597794" cy="37304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2553DE-DA21-E25E-0BB4-CA255C97B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4061F84-8442-A376-DF16-7AB9FD487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FLOW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1FEB8CD0-0C14-1D47-FA01-B9FC844525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/>
              <a:t>The online library platform follows a clear and logical workflow that connects </a:t>
            </a:r>
            <a:r>
              <a:rPr lang="en-US" sz="1800" b="1" dirty="0"/>
              <a:t>Admin</a:t>
            </a:r>
            <a:r>
              <a:rPr lang="en-US" sz="1800" dirty="0"/>
              <a:t> and </a:t>
            </a:r>
            <a:r>
              <a:rPr lang="en-US" sz="1800" b="1" dirty="0"/>
              <a:t>Users.</a:t>
            </a:r>
            <a:r>
              <a:rPr lang="en-US" sz="1800" dirty="0"/>
              <a:t> </a:t>
            </a:r>
            <a:endParaRPr lang="en-IN" sz="1800" dirty="0"/>
          </a:p>
        </p:txBody>
      </p:sp>
      <p:pic>
        <p:nvPicPr>
          <p:cNvPr id="32" name="Picture Placeholder 31">
            <a:extLst>
              <a:ext uri="{FF2B5EF4-FFF2-40B4-BE49-F238E27FC236}">
                <a16:creationId xmlns:a16="http://schemas.microsoft.com/office/drawing/2014/main" id="{524E7F51-F1D7-16F0-FED9-85BEB1D0305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235" t="263" r="1037" b="527"/>
          <a:stretch>
            <a:fillRect/>
          </a:stretch>
        </p:blipFill>
        <p:spPr>
          <a:xfrm>
            <a:off x="6563360" y="81280"/>
            <a:ext cx="5201920" cy="65430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 rad="127000">
              <a:schemeClr val="tx1"/>
            </a:glow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3186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F7C5-CBA2-9823-0CBA-5BD77399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579120"/>
            <a:ext cx="11548261" cy="2733306"/>
          </a:xfrm>
        </p:spPr>
        <p:txBody>
          <a:bodyPr/>
          <a:lstStyle/>
          <a:p>
            <a:pPr algn="l"/>
            <a:r>
              <a:rPr lang="en-US" sz="1800" dirty="0">
                <a:cs typeface="Biome"/>
              </a:rPr>
              <a:t>This Online library</a:t>
            </a:r>
            <a:r>
              <a:rPr lang="en-US" sz="1800" b="1" dirty="0">
                <a:cs typeface="Biome"/>
              </a:rPr>
              <a:t> </a:t>
            </a:r>
            <a:r>
              <a:rPr lang="en-US" sz="1800" dirty="0">
                <a:cs typeface="Biome"/>
              </a:rPr>
              <a:t>platform provides an efficient, reliable, and user-friendly way to handle all library operations digitally.</a:t>
            </a:r>
            <a:br>
              <a:rPr lang="en-US" sz="1800" dirty="0"/>
            </a:br>
            <a:r>
              <a:rPr lang="en-US" sz="1800" dirty="0">
                <a:cs typeface="Biome"/>
              </a:rPr>
              <a:t>It automates major tasks such as </a:t>
            </a:r>
            <a:r>
              <a:rPr lang="en-US" sz="1800" b="1" dirty="0">
                <a:cs typeface="Biome"/>
              </a:rPr>
              <a:t>book issue, return, search, fine calculation, and report generation</a:t>
            </a:r>
            <a:r>
              <a:rPr lang="en-US" sz="1800" dirty="0">
                <a:cs typeface="Biome"/>
              </a:rPr>
              <a:t>, reducing manual effort and errors.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8" y="3484615"/>
            <a:ext cx="11562303" cy="2387865"/>
          </a:xfrm>
        </p:spPr>
        <p:txBody>
          <a:bodyPr/>
          <a:lstStyle/>
          <a:p>
            <a:pPr algn="l"/>
            <a:endParaRPr lang="en-US"/>
          </a:p>
          <a:p>
            <a:pPr algn="l"/>
            <a:r>
              <a:rPr lang="en-US"/>
              <a:t>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77B561B-3A65-4A22-9691-EB838E7F9B8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305301E-11B3-4B9D-A588-21F3C9809371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{01AB8E50-3B5F-43E5-BD85-78384AA9184A}TFe8699e8e-689b-4d7e-abcf-e888fd749829db3118dc_win32-d573b439b56f</Template>
  <TotalTime>134</TotalTime>
  <Words>322</Words>
  <Application>Microsoft Office PowerPoint</Application>
  <PresentationFormat>Widescreen</PresentationFormat>
  <Paragraphs>89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Nova</vt:lpstr>
      <vt:lpstr>Biome</vt:lpstr>
      <vt:lpstr>Calibri</vt:lpstr>
      <vt:lpstr>Custom</vt:lpstr>
      <vt:lpstr>Web Dev Project</vt:lpstr>
      <vt:lpstr>Web Dev Project</vt:lpstr>
      <vt:lpstr>Developers</vt:lpstr>
      <vt:lpstr>Hero Section</vt:lpstr>
      <vt:lpstr>Hero Section</vt:lpstr>
      <vt:lpstr>Why we need this?</vt:lpstr>
      <vt:lpstr>Why we need this?</vt:lpstr>
      <vt:lpstr>PowerPoint Presentation</vt:lpstr>
      <vt:lpstr>Login and registration</vt:lpstr>
      <vt:lpstr>PowerPoint Presentation</vt:lpstr>
      <vt:lpstr>SYSTEM ARCHITECTURE</vt:lpstr>
      <vt:lpstr>TECHNOLOGIES USED</vt:lpstr>
      <vt:lpstr>SYSTEM FLOW</vt:lpstr>
      <vt:lpstr>This Online library platform provides an efficient, reliable, and user-friendly way to handle all library operations digitally. It automates major tasks such as book issue, return, search, fine calculation, and report generation, reducing manual effort and errors.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MAHIN 2401010123</dc:creator>
  <cp:lastModifiedBy>MAHIN 2401010123</cp:lastModifiedBy>
  <cp:revision>7</cp:revision>
  <dcterms:created xsi:type="dcterms:W3CDTF">2025-11-01T11:26:33Z</dcterms:created>
  <dcterms:modified xsi:type="dcterms:W3CDTF">2025-11-14T05:40:49Z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